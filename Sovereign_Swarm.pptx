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5600" b="1">
                <a:solidFill>
                  <a:srgbClr val="A855F7"/>
                </a:solidFill>
                <a:latin typeface="Outfit"/>
              </a:defRPr>
            </a:pPr>
            <a:r>
              <a:t>🎬 SOVEREIGN SWARM</a:t>
            </a:r>
          </a:p>
          <a:p>
            <a:pPr algn="ctr">
              <a:spcAft>
                <a:spcPts val="3000"/>
              </a:spcAft>
              <a:defRPr sz="2400">
                <a:solidFill>
                  <a:srgbClr val="F3F4F6"/>
                </a:solidFill>
                <a:latin typeface="Inter"/>
              </a:defRPr>
            </a:pPr>
            <a:r>
              <a:t>Multi-Tone Video Captioning Powered by Multimodal AI</a:t>
            </a:r>
          </a:p>
          <a:p>
            <a:pPr algn="ctr">
              <a:defRPr sz="1600">
                <a:solidFill>
                  <a:srgbClr val="3B82F6"/>
                </a:solidFill>
                <a:latin typeface="Inter"/>
              </a:defRPr>
            </a:pPr>
            <a:r>
              <a:t>Live Demo: sovereign-swarm.streamlit.app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A855F7"/>
                </a:solidFill>
                <a:latin typeface="Outfit"/>
              </a:defRPr>
            </a:pPr>
            <a:r>
              <a:t>The Vision &amp; Core Problem</a:t>
            </a:r>
          </a:p>
          <a:p>
            <a:pPr>
              <a:defRPr sz="1600">
                <a:solidFill>
                  <a:srgbClr val="9CA3AF"/>
                </a:solidFill>
                <a:latin typeface="Inter"/>
              </a:defRPr>
            </a:pPr>
            <a:r>
              <a:t>Why we built Sovereign Swarm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3B82F6"/>
                </a:solidFill>
                <a:latin typeface="Outfit"/>
              </a:defRPr>
            </a:pPr>
            <a:r>
              <a:t>•  Manual Copywriting is Slow</a:t>
            </a:r>
          </a:p>
          <a:p>
            <a:pPr>
              <a:spcAft>
                <a:spcPts val="2000"/>
              </a:spcAft>
              <a:defRPr sz="1600">
                <a:solidFill>
                  <a:srgbClr val="F3F4F6"/>
                </a:solidFill>
                <a:latin typeface="Inter"/>
              </a:defRPr>
            </a:pPr>
            <a:r>
              <a:t>    Writing custom social copy for different social channels (LinkedIn, Reddit, TikTok) is time-consuming and requires distinct tone adjustments.</a:t>
            </a:r>
          </a:p>
          <a:p>
            <a:pPr>
              <a:spcAft>
                <a:spcPts val="400"/>
              </a:spcAft>
              <a:defRPr sz="2200" b="1">
                <a:solidFill>
                  <a:srgbClr val="3B82F6"/>
                </a:solidFill>
                <a:latin typeface="Outfit"/>
              </a:defRPr>
            </a:pPr>
            <a:r>
              <a:t>•  Visual Media Context is Locked</a:t>
            </a:r>
          </a:p>
          <a:p>
            <a:pPr>
              <a:spcAft>
                <a:spcPts val="2000"/>
              </a:spcAft>
              <a:defRPr sz="1600">
                <a:solidFill>
                  <a:srgbClr val="F3F4F6"/>
                </a:solidFill>
                <a:latin typeface="Inter"/>
              </a:defRPr>
            </a:pPr>
            <a:r>
              <a:t>    Standard text LLMs cannot 'see' what is happening in a video. Extracts manually are slow and context is lost.</a:t>
            </a:r>
          </a:p>
          <a:p>
            <a:pPr>
              <a:spcAft>
                <a:spcPts val="400"/>
              </a:spcAft>
              <a:defRPr sz="2200" b="1">
                <a:solidFill>
                  <a:srgbClr val="3B82F6"/>
                </a:solidFill>
                <a:latin typeface="Outfit"/>
              </a:defRPr>
            </a:pPr>
            <a:r>
              <a:t>•  Sovereign Swarm Solution</a:t>
            </a:r>
          </a:p>
          <a:p>
            <a:pPr>
              <a:spcAft>
                <a:spcPts val="2000"/>
              </a:spcAft>
              <a:defRPr sz="1600">
                <a:solidFill>
                  <a:srgbClr val="F3F4F6"/>
                </a:solidFill>
                <a:latin typeface="Inter"/>
              </a:defRPr>
            </a:pPr>
            <a:r>
              <a:t>    Translates video timeline progression (frames) into four distinct, ready-to-use captions (Formal, Sarcastic, Humorous Tech, and Everyday Humor) in seconds.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A855F7"/>
                </a:solidFill>
                <a:latin typeface="Outfit"/>
              </a:defRPr>
            </a:pPr>
            <a:r>
              <a:t>System Architecture &amp; Workflow</a:t>
            </a:r>
          </a:p>
          <a:p>
            <a:pPr>
              <a:defRPr sz="1600">
                <a:solidFill>
                  <a:srgbClr val="9CA3AF"/>
                </a:solidFill>
                <a:latin typeface="Inter"/>
              </a:defRPr>
            </a:pPr>
            <a:r>
              <a:t>Step-by-step video metadata to social copy translation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3B82F6"/>
                </a:solidFill>
                <a:latin typeface="Outfit"/>
              </a:defRPr>
            </a:pPr>
            <a:r>
              <a:t>•  1. Video Ingestion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  <a:latin typeface="Inter"/>
              </a:defRPr>
            </a:pPr>
            <a:r>
              <a:t>    User uploads an MP4 clip (between 30s and 2 minutes). The app extracts framerate, frame count, and duration.</a:t>
            </a:r>
          </a:p>
          <a:p>
            <a:pPr>
              <a:spcAft>
                <a:spcPts val="200"/>
              </a:spcAft>
              <a:defRPr sz="2000" b="1">
                <a:solidFill>
                  <a:srgbClr val="3B82F6"/>
                </a:solidFill>
                <a:latin typeface="Outfit"/>
              </a:defRPr>
            </a:pPr>
            <a:r>
              <a:t>•  2. OpenCV Keyframe Extraction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  <a:latin typeface="Inter"/>
              </a:defRPr>
            </a:pPr>
            <a:r>
              <a:t>    Extracts exactly 3 evenly spaced frames (at 25%, 50%, and 75% timeline progression) to capture the timeline narrative.</a:t>
            </a:r>
          </a:p>
          <a:p>
            <a:pPr>
              <a:spcAft>
                <a:spcPts val="200"/>
              </a:spcAft>
              <a:defRPr sz="2000" b="1">
                <a:solidFill>
                  <a:srgbClr val="3B82F6"/>
                </a:solidFill>
                <a:latin typeface="Outfit"/>
              </a:defRPr>
            </a:pPr>
            <a:r>
              <a:t>•  3. Multimodal Vision Reasoning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  <a:latin typeface="Inter"/>
              </a:defRPr>
            </a:pPr>
            <a:r>
              <a:t>    Sends the Base64 frames to vision-capable models (e.g., Kimi K2.6 or Gemma 4) via Fireworks AI to get a sequential text description.</a:t>
            </a:r>
          </a:p>
          <a:p>
            <a:pPr>
              <a:spcAft>
                <a:spcPts val="200"/>
              </a:spcAft>
              <a:defRPr sz="2000" b="1">
                <a:solidFill>
                  <a:srgbClr val="3B82F6"/>
                </a:solidFill>
                <a:latin typeface="Outfit"/>
              </a:defRPr>
            </a:pPr>
            <a:r>
              <a:t>•  4. Contextual Copy Synthesis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  <a:latin typeface="Inter"/>
              </a:defRPr>
            </a:pPr>
            <a:r>
              <a:t>    Converts the raw description into a structured JSON payload containing four distinct caption tones using text LLMs (e.g., DeepSeek V4 Pro, GLM 5.2).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A855F7"/>
                </a:solidFill>
                <a:latin typeface="Outfit"/>
              </a:defRPr>
            </a:pPr>
            <a:r>
              <a:t>Key Platform Features</a:t>
            </a:r>
          </a:p>
          <a:p>
            <a:pPr>
              <a:defRPr sz="1600">
                <a:solidFill>
                  <a:srgbClr val="9CA3AF"/>
                </a:solidFill>
                <a:latin typeface="Inter"/>
              </a:defRPr>
            </a:pPr>
            <a:r>
              <a:t>Built for security, flexibility, and resilience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3B82F6"/>
                </a:solidFill>
                <a:latin typeface="Outfit"/>
              </a:defRPr>
            </a:pPr>
            <a:r>
              <a:t>•  API-Driven Model Lists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  <a:latin typeface="Inter"/>
              </a:defRPr>
            </a:pPr>
            <a:r>
              <a:t>    No hardcoded model lists. The application queries the API dynamically to present models supported by the provided key.</a:t>
            </a:r>
          </a:p>
          <a:p>
            <a:pPr>
              <a:spcAft>
                <a:spcPts val="200"/>
              </a:spcAft>
              <a:defRPr sz="2000" b="1">
                <a:solidFill>
                  <a:srgbClr val="3B82F6"/>
                </a:solidFill>
                <a:latin typeface="Outfit"/>
              </a:defRPr>
            </a:pPr>
            <a:r>
              <a:t>•  Granular Security &amp; Ignored Secrets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  <a:latin typeface="Inter"/>
              </a:defRPr>
            </a:pPr>
            <a:r>
              <a:t>    Stores API credentials locally in a .env file added to .gitignore. Prevents repository credential leakage.</a:t>
            </a:r>
          </a:p>
          <a:p>
            <a:pPr>
              <a:spcAft>
                <a:spcPts val="200"/>
              </a:spcAft>
              <a:defRPr sz="2000" b="1">
                <a:solidFill>
                  <a:srgbClr val="3B82F6"/>
                </a:solidFill>
                <a:latin typeface="Outfit"/>
              </a:defRPr>
            </a:pPr>
            <a:r>
              <a:t>•  Billing &amp; Quota Fallbacks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  <a:latin typeface="Inter"/>
              </a:defRPr>
            </a:pPr>
            <a:r>
              <a:t>    Validates keys on startup. If background credits are exhausted, displays friendly validation prompts to guide users to input their own keys.</a:t>
            </a:r>
          </a:p>
          <a:p>
            <a:pPr>
              <a:spcAft>
                <a:spcPts val="200"/>
              </a:spcAft>
              <a:defRPr sz="2000" b="1">
                <a:solidFill>
                  <a:srgbClr val="3B82F6"/>
                </a:solidFill>
                <a:latin typeface="Outfit"/>
              </a:defRPr>
            </a:pPr>
            <a:r>
              <a:t>•  High-Fidelity Dashboard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  <a:latin typeface="Inter"/>
              </a:defRPr>
            </a:pPr>
            <a:r>
              <a:t>    Premium dark mode visual layout with custom CSS, frame thumbnails, and accordion tab outputs.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A855F7"/>
                </a:solidFill>
                <a:latin typeface="Outfit"/>
              </a:defRPr>
            </a:pPr>
            <a:r>
              <a:t>Technology Stack</a:t>
            </a:r>
          </a:p>
          <a:p>
            <a:pPr>
              <a:defRPr sz="1600">
                <a:solidFill>
                  <a:srgbClr val="9CA3AF"/>
                </a:solidFill>
                <a:latin typeface="Inter"/>
              </a:defRPr>
            </a:pPr>
            <a:r>
              <a:t>Modern open-source libraries and APIs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3B82F6"/>
                </a:solidFill>
                <a:latin typeface="Outfit"/>
              </a:defRPr>
            </a:pPr>
            <a:r>
              <a:t>•  Streamlit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  <a:latin typeface="Inter"/>
              </a:defRPr>
            </a:pPr>
            <a:r>
              <a:t>    Powering the frontend dashboard interface, widgets, and dynamic state management.</a:t>
            </a:r>
          </a:p>
          <a:p>
            <a:pPr>
              <a:spcAft>
                <a:spcPts val="200"/>
              </a:spcAft>
              <a:defRPr sz="2000" b="1">
                <a:solidFill>
                  <a:srgbClr val="3B82F6"/>
                </a:solidFill>
                <a:latin typeface="Outfit"/>
              </a:defRPr>
            </a:pPr>
            <a:r>
              <a:t>•  OpenCV (Headless)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  <a:latin typeface="Inter"/>
              </a:defRPr>
            </a:pPr>
            <a:r>
              <a:t>    Running lightweight frame and timeline manipulations, frame conversions, and metadata decoding.</a:t>
            </a:r>
          </a:p>
          <a:p>
            <a:pPr>
              <a:spcAft>
                <a:spcPts val="200"/>
              </a:spcAft>
              <a:defRPr sz="2000" b="1">
                <a:solidFill>
                  <a:srgbClr val="3B82F6"/>
                </a:solidFill>
                <a:latin typeface="Outfit"/>
              </a:defRPr>
            </a:pPr>
            <a:r>
              <a:t>•  Fireworks AI API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  <a:latin typeface="Inter"/>
              </a:defRPr>
            </a:pPr>
            <a:r>
              <a:t>    Providing lightning-fast inference for frontier model checkpoints (Kimi, DeepSeek, Gemma, Qwen, GLM).</a:t>
            </a:r>
          </a:p>
          <a:p>
            <a:pPr>
              <a:spcAft>
                <a:spcPts val="200"/>
              </a:spcAft>
              <a:defRPr sz="2000" b="1">
                <a:solidFill>
                  <a:srgbClr val="3B82F6"/>
                </a:solidFill>
                <a:latin typeface="Outfit"/>
              </a:defRPr>
            </a:pPr>
            <a:r>
              <a:t>•  OpenAI Python SDK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  <a:latin typeface="Inter"/>
              </a:defRPr>
            </a:pPr>
            <a:r>
              <a:t>    Configured to access the Fireworks AI serverless inference endpoints seamlessly.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A855F7"/>
                </a:solidFill>
                <a:latin typeface="Outfit"/>
              </a:defRPr>
            </a:pPr>
            <a:r>
              <a:t>Deployment &amp; Local Setup</a:t>
            </a:r>
          </a:p>
          <a:p>
            <a:pPr>
              <a:defRPr sz="1600">
                <a:solidFill>
                  <a:srgbClr val="9CA3AF"/>
                </a:solidFill>
                <a:latin typeface="Inter"/>
              </a:defRPr>
            </a:pPr>
            <a:r>
              <a:t>How to run and deploy Sovereign Swarm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3B82F6"/>
                </a:solidFill>
                <a:latin typeface="Outfit"/>
              </a:defRPr>
            </a:pPr>
            <a:r>
              <a:t>•  Local Installation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  <a:latin typeface="Inter"/>
              </a:defRPr>
            </a:pPr>
            <a:r>
              <a:t>    Clone the repository, configure the .env file with your Fireworks API key, install dependencies from requirements.txt, and run 'streamlit run app.py'.</a:t>
            </a:r>
          </a:p>
          <a:p>
            <a:pPr>
              <a:spcAft>
                <a:spcPts val="200"/>
              </a:spcAft>
              <a:defRPr sz="2000" b="1">
                <a:solidFill>
                  <a:srgbClr val="3B82F6"/>
                </a:solidFill>
                <a:latin typeface="Outfit"/>
              </a:defRPr>
            </a:pPr>
            <a:r>
              <a:t>•  Cloud Deployment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  <a:latin typeface="Inter"/>
              </a:defRPr>
            </a:pPr>
            <a:r>
              <a:t>    Deploy to Streamlit Community Cloud directly from your GitHub repository.</a:t>
            </a:r>
          </a:p>
          <a:p>
            <a:pPr>
              <a:spcAft>
                <a:spcPts val="200"/>
              </a:spcAft>
              <a:defRPr sz="2000" b="1">
                <a:solidFill>
                  <a:srgbClr val="3B82F6"/>
                </a:solidFill>
                <a:latin typeface="Outfit"/>
              </a:defRPr>
            </a:pPr>
            <a:r>
              <a:t>•  Production Secrets Config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  <a:latin typeface="Inter"/>
              </a:defRPr>
            </a:pPr>
            <a:r>
              <a:t>    Enter your API key inside the 'Streamlit Secrets' dashboard. The app reads this key to power the default experience safely.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5600" b="1">
                <a:solidFill>
                  <a:srgbClr val="A855F7"/>
                </a:solidFill>
                <a:latin typeface="Outfit"/>
              </a:defRPr>
            </a:pPr>
            <a:r>
              <a:t>🎬 SOVEREIGN SWARM</a:t>
            </a:r>
          </a:p>
          <a:p>
            <a:pPr algn="ctr">
              <a:spcAft>
                <a:spcPts val="2000"/>
              </a:spcAft>
              <a:defRPr sz="2800">
                <a:solidFill>
                  <a:srgbClr val="F3F4F6"/>
                </a:solidFill>
                <a:latin typeface="Inter"/>
              </a:defRPr>
            </a:pPr>
            <a:r>
              <a:t>Thank You!</a:t>
            </a:r>
          </a:p>
          <a:p>
            <a:pPr algn="ctr">
              <a:defRPr sz="1800">
                <a:solidFill>
                  <a:srgbClr val="3B82F6"/>
                </a:solidFill>
                <a:latin typeface="Inter"/>
              </a:defRPr>
            </a:pPr>
            <a:r>
              <a:t>Live App: sovereign-swarm.streamlit.app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